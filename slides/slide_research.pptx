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ĐÁNH GIÁ HIỆU QUẢ CÁC PHƯƠNG PHÁP</a:t>
            </a:r>
            <a:br/>
            <a:r>
              <a:t>KHUYẾN NGHỊ TRÊN DỮ LIỆU TƯƠNG TÁC MXH</a:t>
            </a:r>
          </a:p>
          <a:p>
            <a:pPr>
              <a:spcBef>
                <a:spcPts val="1400"/>
              </a:spcBef>
              <a:defRPr sz="1600">
                <a:solidFill>
                  <a:srgbClr val="F5A623"/>
                </a:solidFill>
              </a:defRPr>
            </a:pPr>
            <a:r>
              <a:t>ViFoodRec: 4.000 món ăn  |  182.678 ratings  |  CBF · CF · SVD · NCF</a:t>
            </a:r>
          </a:p>
          <a:p>
            <a:pPr>
              <a:spcBef>
                <a:spcPts val="1800"/>
              </a:spcBef>
              <a:defRPr sz="1300">
                <a:solidFill>
                  <a:srgbClr val="C8D2E6"/>
                </a:solidFill>
              </a:defRPr>
            </a:pPr>
            <a:r>
              <a:t>Môn: Khai thác Dữ liệu Truyền thông Xã hội  |  UIT - ĐHQG-HCM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Nội dung Trình bày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87878"/>
                </a:solidFill>
              </a:defRPr>
            </a:pPr>
            <a:r>
              <a:t>Khai thác DL Truyền thông MXH  |  Đánh giá KN trên Dữ liệu Tương tác ViFoodRec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601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700"/>
              </a:spcAft>
              <a:defRPr sz="1600">
                <a:solidFill>
                  <a:srgbClr val="333333"/>
                </a:solidFill>
              </a:defRPr>
            </a:pPr>
            <a:r>
              <a:t>• 1. Vấn đề nghiên cứu &amp; Câu hỏi RQ1–RQ3</a:t>
            </a:r>
          </a:p>
          <a:p>
            <a:pPr>
              <a:spcAft>
                <a:spcPts val="700"/>
              </a:spcAft>
              <a:defRPr sz="1600">
                <a:solidFill>
                  <a:srgbClr val="333333"/>
                </a:solidFill>
              </a:defRPr>
            </a:pPr>
            <a:r>
              <a:t>• 2. Công trình liên quan &amp; Research Gap</a:t>
            </a:r>
          </a:p>
          <a:p>
            <a:pPr>
              <a:spcAft>
                <a:spcPts val="700"/>
              </a:spcAft>
              <a:defRPr sz="1600">
                <a:solidFill>
                  <a:srgbClr val="333333"/>
                </a:solidFill>
              </a:defRPr>
            </a:pPr>
            <a:r>
              <a:t>• 3. Dữ liệu tương tác ViFoodRec &amp; Phân tích insight</a:t>
            </a:r>
          </a:p>
          <a:p>
            <a:pPr>
              <a:spcAft>
                <a:spcPts val="700"/>
              </a:spcAft>
              <a:defRPr sz="1600">
                <a:solidFill>
                  <a:srgbClr val="333333"/>
                </a:solidFill>
              </a:defRPr>
            </a:pPr>
            <a:r>
              <a:t>• 4. Phương pháp: CBF, CF, Funk SVD, NCF</a:t>
            </a:r>
          </a:p>
          <a:p>
            <a:pPr>
              <a:spcAft>
                <a:spcPts val="700"/>
              </a:spcAft>
              <a:defRPr sz="1600">
                <a:solidFill>
                  <a:srgbClr val="333333"/>
                </a:solidFill>
              </a:defRPr>
            </a:pPr>
            <a:r>
              <a:t>• 5. Thiết kế thí nghiệm (Experimental Setup)</a:t>
            </a:r>
          </a:p>
          <a:p>
            <a:pPr>
              <a:spcAft>
                <a:spcPts val="700"/>
              </a:spcAft>
              <a:defRPr sz="1600">
                <a:solidFill>
                  <a:srgbClr val="333333"/>
                </a:solidFill>
              </a:defRPr>
            </a:pPr>
            <a:r>
              <a:t>• 6. Kết quả &amp; Thảo luận ý nghĩa thống kê</a:t>
            </a:r>
          </a:p>
          <a:p>
            <a:pPr>
              <a:spcAft>
                <a:spcPts val="700"/>
              </a:spcAft>
              <a:defRPr sz="1600">
                <a:solidFill>
                  <a:srgbClr val="333333"/>
                </a:solidFill>
              </a:defRPr>
            </a:pPr>
            <a:r>
              <a:t>• 7. Phân tích lỗi đa khía cạnh</a:t>
            </a:r>
          </a:p>
          <a:p>
            <a:pPr>
              <a:spcAft>
                <a:spcPts val="700"/>
              </a:spcAft>
              <a:defRPr sz="1600">
                <a:solidFill>
                  <a:srgbClr val="333333"/>
                </a:solidFill>
              </a:defRPr>
            </a:pPr>
            <a:r>
              <a:t>• 8. Kết luận &amp; Hướng phát triển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1. Bối cảnh: Dữ liệu Tương tác trên Nền tảng Ẩm thực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87878"/>
                </a:solidFill>
              </a:defRPr>
            </a:pPr>
            <a:r>
              <a:t>Khai thác DL Truyền thông MXH  |  Đánh giá KN trên Dữ liệu Tương tác ViFoodRec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E3A8A"/>
                </a:solidFill>
              </a:defRPr>
            </a:pPr>
            <a:r>
              <a:t>Hành vi người dùng (User Interaction)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• Rating món ăn = tín hiệu tương tác người dùng–nội dung trên MXH ẩm thực.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• Ma trận R(user × item) phản ánh sở thích ẩn cần khai thác.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• Density 45.22% — dữ liệu tương tác dày hơn nhiều dataset thương mại.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E3A8A"/>
                </a:solidFill>
              </a:defRPr>
            </a:pPr>
            <a:r>
              <a:t>Bài toán nghiên cứu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→ Input: ratings + metadata món ăn.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→ Output: dự đoán rating + Top-K gợi ý.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→ Không phải xây dựng hệ thống — mà đánh giá phương pháp khai thác.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1. Câu hỏi Nghiên cứu (RQ1–RQ3)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87878"/>
                </a:solidFill>
              </a:defRPr>
            </a:pPr>
            <a:r>
              <a:t>Khai thác DL Truyền thông MXH  |  Đánh giá KN trên Dữ liệu Tương tác ViFoodRec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? RQ1: CBF và Memory-Based CF hoạt động thế nào trên ViFoodRec?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? RQ2: Funk SVD và NCF có cải thiện dự đoán rating so với CF truyền thống?</a:t>
            </a:r>
          </a:p>
          <a:p>
            <a:pPr>
              <a:spcAft>
                <a:spcPts val="700"/>
              </a:spcAft>
              <a:defRPr sz="1800">
                <a:solidFill>
                  <a:srgbClr val="333333"/>
                </a:solidFill>
              </a:defRPr>
            </a:pPr>
            <a:r>
              <a:t>? RQ3: Mô hình nào phù hợp cho Rating Prediction vs Top-K Ranking?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2. Công trình Liên quan &amp; Research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87878"/>
                </a:solidFill>
              </a:defRPr>
            </a:pPr>
            <a:r>
              <a:t>Khai thác DL Truyền thông MXH  |  Đánh giá KN trên Dữ liệu Tương tác ViFoodRec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87878"/>
                </a:solidFill>
              </a:defRPr>
            </a:pPr>
            <a:r>
              <a:t>Khai thác DL Truyền thông MXH  |  Đánh giá KN trên Dữ liệu Tương tác ViFoodRec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11247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8404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Nhóm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Đại diện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Ưu điểm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Hạn chế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Content-Based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TF-IDF + Cosine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Cold-start 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Thiếu ngữ nghĩa sâu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Collaborative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User/Item-CF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Khai thác hành vi MXH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Sparsity, cold-start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Matrix Factor.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Funk SVD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Latent factors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Tuyến tính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Neural Rec.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NCF / MLP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Phi tuyến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Cần nhiều dữ liệu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30352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Research Gap: ViFoodRec gốc chưa đánh giá SVD và NCF → nghiên cứu này lấp khoảng trống đó.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3. Dữ liệu ViFoodRec (Sử dụng Clean Dataset)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87878"/>
                </a:solidFill>
              </a:defRPr>
            </a:pPr>
            <a:r>
              <a:t>Khai thác DL Truyền thông MXH  |  Đánh giá KN trên Dữ liệu Tương tác ViFoodRec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E3A8A"/>
                </a:solidFill>
              </a:defRPr>
            </a:pPr>
            <a:r>
              <a:t>Thống kê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• 4.000 món ăn (foods.csv, 16 thuộc tính)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• 182.678 ratings từ 101 người dùng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• Thang [0.0, 5.0], bước 0.5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• Train/Test: 90/10, random_state=42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E3A8A"/>
                </a:solidFill>
              </a:defRPr>
            </a:pPr>
            <a:r>
              <a:t>Tiền xử lý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• Loại trùng (userId, foodId); Unicode NFC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• CBF: TF-IDF combined_features (max 2000)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• CF/SVD/NCF: ma trận tương tác trực tiếp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3. Phân tích Insight Dữ liệu Tương tác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87878"/>
                </a:solidFill>
              </a:defRPr>
            </a:pPr>
            <a:r>
              <a:t>Khai thác DL Truyền thông MXH  |  Đánh giá KN trên Dữ liệu Tương tác ViFoodRec</a:t>
            </a:r>
          </a:p>
        </p:txBody>
      </p:sp>
      <p:pic>
        <p:nvPicPr>
          <p:cNvPr id="5" name="Picture 4" descr="rating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657600" cy="2286000"/>
          </a:xfrm>
          <a:prstGeom prst="rect">
            <a:avLst/>
          </a:prstGeom>
        </p:spPr>
      </p:pic>
      <p:pic>
        <p:nvPicPr>
          <p:cNvPr id="6" name="Picture 5" descr="user_activity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280160"/>
            <a:ext cx="3657600" cy="2276717"/>
          </a:xfrm>
          <a:prstGeom prst="rect">
            <a:avLst/>
          </a:prstGeom>
        </p:spPr>
      </p:pic>
      <p:pic>
        <p:nvPicPr>
          <p:cNvPr id="7" name="Picture 6" descr="dish_type_distrib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280160"/>
            <a:ext cx="3474720" cy="21647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38912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</a:defRPr>
            </a:pPr>
            <a:r>
              <a:t>• Insight 1: Rating phân bố đồng đều 0–5 → ranh giới thích/ghét bị nhòe.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</a:defRPr>
            </a:pPr>
            <a:r>
              <a:t>• Insight 2: Ma trận dẹt (101 users × 4000 items) → User-CF ổn định hơn Item-CF.</a:t>
            </a:r>
          </a:p>
          <a:p>
            <a:pPr>
              <a:spcAft>
                <a:spcPts val="700"/>
              </a:spcAft>
              <a:defRPr sz="1300">
                <a:solidFill>
                  <a:srgbClr val="333333"/>
                </a:solidFill>
              </a:defRPr>
            </a:pPr>
            <a:r>
              <a:t>• Insight 3: User activity tập trung → dữ liệu thu thập có chủ đích, không phải log MXH tự nhiên.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4. Tổng quan 4 Phương pháp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87878"/>
                </a:solidFill>
              </a:defRPr>
            </a:pPr>
            <a:r>
              <a:t>Khai thác DL Truyền thông MXH  |  Đánh giá KN trên Dữ liệu Tương tác ViFoodRec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63040"/>
            <a:ext cx="265176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237744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E3A8A"/>
                </a:solidFill>
              </a:defRPr>
            </a:pPr>
            <a:r>
              <a:t>CBF</a:t>
            </a:r>
          </a:p>
          <a:p>
            <a:pPr>
              <a:defRPr sz="1300">
                <a:solidFill>
                  <a:srgbClr val="F5A623"/>
                </a:solidFill>
              </a:defRPr>
            </a:pPr>
            <a:r>
              <a:t>TF-IDF + Cosine</a:t>
            </a:r>
          </a:p>
          <a:p>
            <a:pPr>
              <a:defRPr sz="1200"/>
            </a:pPr>
            <a:r>
              <a:t>Metadata văn bản món ăn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463040"/>
            <a:ext cx="265176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1645920"/>
            <a:ext cx="237744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E3A8A"/>
                </a:solidFill>
              </a:defRPr>
            </a:pPr>
            <a:r>
              <a:t>Memory-CF</a:t>
            </a:r>
          </a:p>
          <a:p>
            <a:pPr>
              <a:defRPr sz="1300">
                <a:solidFill>
                  <a:srgbClr val="F5A623"/>
                </a:solidFill>
              </a:defRPr>
            </a:pPr>
            <a:r>
              <a:t>User/Item-CF, k=15</a:t>
            </a:r>
          </a:p>
          <a:p>
            <a:pPr>
              <a:defRPr sz="1200"/>
            </a:pPr>
            <a:r>
              <a:t>Ma trận tương tác MXH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265176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237744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E3A8A"/>
                </a:solidFill>
              </a:defRPr>
            </a:pPr>
            <a:r>
              <a:t>Funk SVD</a:t>
            </a:r>
          </a:p>
          <a:p>
            <a:pPr>
              <a:defRPr sz="1300">
                <a:solidFill>
                  <a:srgbClr val="F5A623"/>
                </a:solidFill>
              </a:defRPr>
            </a:pPr>
            <a:r>
              <a:t>f=10, SGD</a:t>
            </a:r>
          </a:p>
          <a:p>
            <a:pPr>
              <a:defRPr sz="1200"/>
            </a:pPr>
            <a:r>
              <a:t>Latent factors + bias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1463040"/>
            <a:ext cx="265176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81160" y="1645920"/>
            <a:ext cx="237744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E3A8A"/>
                </a:solidFill>
              </a:defRPr>
            </a:pPr>
            <a:r>
              <a:t>NCF (MLP)</a:t>
            </a:r>
          </a:p>
          <a:p>
            <a:pPr>
              <a:defRPr sz="1300">
                <a:solidFill>
                  <a:srgbClr val="F5A623"/>
                </a:solidFill>
              </a:defRPr>
            </a:pPr>
            <a:r>
              <a:t>Embedding + MLP</a:t>
            </a:r>
          </a:p>
          <a:p>
            <a:pPr>
              <a:defRPr sz="1200"/>
            </a:pPr>
            <a:r>
              <a:t>Tương tác phi tuyến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4. Funk SVD &amp; Neural CF — Công thức cốt lõi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87878"/>
                </a:solidFill>
              </a:defRPr>
            </a:pPr>
            <a:r>
              <a:t>Khai thác DL Truyền thông MXH  |  Đánh giá KN trên Dữ liệu Tương tác ViFoodRec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E3A8A"/>
                </a:solidFill>
              </a:defRPr>
            </a:pPr>
            <a:r>
              <a:t>Funk SVD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∑ r̂ = μ + b_u + b_i + P_u^T Q_i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∑ μ: rating trung bình; b_u, b_i: bias user/item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∑ P_u, Q_i: embedding sở thích ẩn (latent factors)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∑ Tối ưu SGD + L2 regularization (λ=0.02)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E3A8A"/>
                </a:solidFill>
              </a:defRPr>
            </a:pPr>
            <a:r>
              <a:t>Neural CF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∑ Input: user embedding + item embedding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∑ MLP học hàm phi tuyến f(u, i)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∑ Loss MSE, Adam lr=0.001, hidden=(16,)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∑ Vượt khả năng dot-product tuyến tính của SVD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5. Thiết kế Thí nghiệm (Reproducible)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87878"/>
                </a:solidFill>
              </a:defRPr>
            </a:pPr>
            <a:r>
              <a:t>Khai thác DL Truyền thông MXH  |  Đánh giá KN trên Dữ liệu Tương tác ViFoodRec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87878"/>
                </a:solidFill>
              </a:defRPr>
            </a:pPr>
            <a:r>
              <a:t>Khai thác DL Truyền thông MXH  |  Đánh giá KN trên Dữ liệu Tương tác ViFoodRec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112471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8404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Thành phần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Cấu hình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Chia dữ liệu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Train 90% / Test 10%, seed=42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CBF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TF-IDF max_features=2000, Cosine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Memory-CF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k=15 neighbors, Cosine &amp; Pearson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Funk SVD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f=10, lr=0.01, λ=0.02, epochs=8, SGD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NCF (MLP)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hidden=(16,), Adam, batch=512, max_iter=20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MSE, RMSE, MAE, NMAE + P@10, R@10, NDCG, MRR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Relevance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rating ≥ 3.5; Top-K = 10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6. Kết quả CBF &amp; CF (trả lời RQ1)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87878"/>
                </a:solidFill>
              </a:defRPr>
            </a:pPr>
            <a:r>
              <a:t>Khai thác DL Truyền thông MXH  |  Đánh giá KN trên Dữ liệu Tương tác ViFoodRec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471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8404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Mô hình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MAE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P@10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NDCG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CBF (TF-IDF)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1.9502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36.93%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36.70%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User-CF (Cosine) 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1.6429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1.4087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39.50%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39.92%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Item-CF (Cosine)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1.6282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1.4016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38.51%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38.27%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6. Kết quả SVD &amp; NCF (trả lời RQ2)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87878"/>
                </a:solidFill>
              </a:defRPr>
            </a:pPr>
            <a:r>
              <a:t>Khai thác DL Truyền thông MXH  |  Đánh giá KN trên Dữ liệu Tương tác ViFoodRec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4712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8404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Mô hình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MAE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P@10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MRR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Funk SVD (f=10)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1.6683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1.4244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38.71%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60.92%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Neural CF (MLP) 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1.5942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1.3822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39.60%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59.78%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6. So sánh Trực quan Hiệu năng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87878"/>
                </a:solidFill>
              </a:defRPr>
            </a:pPr>
            <a:r>
              <a:t>Khai thác DL Truyền thông MXH  |  Đánh giá KN trên Dữ liệu Tương tác ViFoodRec</a:t>
            </a:r>
          </a:p>
        </p:txBody>
      </p:sp>
      <p:pic>
        <p:nvPicPr>
          <p:cNvPr id="5" name="Picture 4" descr="erro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486400" cy="3291840"/>
          </a:xfrm>
          <a:prstGeom prst="rect">
            <a:avLst/>
          </a:prstGeom>
        </p:spPr>
      </p:pic>
      <p:pic>
        <p:nvPicPr>
          <p:cNvPr id="6" name="Picture 5" descr="ranking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4864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7. Thảo luận &amp; Ý nghĩa Thống kê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87878"/>
                </a:solidFill>
              </a:defRPr>
            </a:pPr>
            <a:r>
              <a:t>Khai thác DL Truyền thông MXH  |  Đánh giá KN trên Dữ liệu Tương tác ViFoodRec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E3A8A"/>
                </a:solidFill>
              </a:defRPr>
            </a:pPr>
            <a:r>
              <a:t>Trả lời RQ3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• Rating Prediction → NCF (RMSE=1.5942)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• Top-K Ranking → NCF (P@10=39.60%) &amp; User-CF (P@10=39.50%)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• MRR tốt nhất → Funk SVD (MRR=60.92%)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• Không có mô hình tốt nhất tuyệt đối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E3A8A"/>
                </a:solidFill>
              </a:defRPr>
            </a:pPr>
            <a:r>
              <a:t>Thảo luận thống kê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📊 P@10 chênh lệch giữa các mô hình nhỏ (~1-3%)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📊 Tối ưu hóa RMSE không đồng nghĩa tối ưu hóa Precision@10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📊 Học máy phi tuyến (NCF) mạnh về dự đoán điểm tương tác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</a:defRPr>
            </a:pPr>
            <a:r>
              <a:t>📊 Học sâu &amp; Phân rã ma trận tối ưu tùy theo mục tiêu cụ thể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8. Phân tích Lỗi (Nguyên nhân → Hướng khắc phục)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87878"/>
                </a:solidFill>
              </a:defRPr>
            </a:pPr>
            <a:r>
              <a:t>Khai thác DL Truyền thông MXH  |  Đánh giá KN trên Dữ liệu Tương tác ViFoodRec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87878"/>
                </a:solidFill>
              </a:defRPr>
            </a:pPr>
            <a:r>
              <a:t>Khai thác DL Truyền thông MXH  |  Đánh giá KN trên Dữ liệu Tương tác ViFoodRec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Vấn đề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Biểu hiện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Hướng khắc phục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Cold-Start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Dự đoán ≈ 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Hybrid CBF + NCF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Popularity 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Top-K lặp món phổ biến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Re-ranking + penalty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Ma trận dẹt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Item-CF kém ổn định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Ưu tiên User-CF / MF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Text Noise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CBF RMSE cao nhất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PhoBERT embedding VN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Rating Ambiguity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Ngưỡng 3.5 nhòe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Implicit feedback MXH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A623"/>
                </a:solidFill>
              </a:defRPr>
            </a:pPr>
            <a:r>
              <a:t>9. Kết luận Nghiên cứu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✔ Khai thác dữ liệu tương tác MXH ẩm thực VN bằng 4 họ phương pháp KN.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✔ NCF tốt nhất Rating Prediction; User-CF tốt nhất Top-K Ranking.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✔ Chênh lệch giữa mô hình ranking nhỏ (1–4%) — cần thận trọng khi khái quát.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✔ Hạn chế: dataset có sẵn, chưa significance test, MLP fallback.</a:t>
            </a:r>
          </a:p>
          <a:p>
            <a:pPr>
              <a:spcAft>
                <a:spcPts val="700"/>
              </a:spcAft>
              <a:defRPr sz="1500">
                <a:solidFill>
                  <a:srgbClr val="333333"/>
                </a:solidFill>
              </a:defRPr>
            </a:pPr>
            <a:r>
              <a:t>✔ Hướng phát triển: Hybrid, embedding VN, implicit feedback thực tế.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56032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</a:defRPr>
            </a:pPr>
            <a:r>
              <a:t>CẢM ƠN!</a:t>
            </a:r>
          </a:p>
          <a:p>
            <a:pPr algn="l">
              <a:defRPr sz="2800">
                <a:solidFill>
                  <a:srgbClr val="F5A623"/>
                </a:solidFill>
              </a:defRPr>
            </a:pPr>
            <a: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